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1"/>
  </p:notesMasterIdLst>
  <p:sldIdLst>
    <p:sldId id="256" r:id="rId2"/>
    <p:sldId id="264" r:id="rId3"/>
    <p:sldId id="257" r:id="rId4"/>
    <p:sldId id="266" r:id="rId5"/>
    <p:sldId id="267" r:id="rId6"/>
    <p:sldId id="268" r:id="rId7"/>
    <p:sldId id="272" r:id="rId8"/>
    <p:sldId id="271" r:id="rId9"/>
    <p:sldId id="27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AFC"/>
    <a:srgbClr val="016630"/>
    <a:srgbClr val="64748B"/>
    <a:srgbClr val="06B6D4"/>
    <a:srgbClr val="2563EB"/>
    <a:srgbClr val="0F172A"/>
    <a:srgbClr val="1521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C188C-2F39-470B-817E-4BC6335F8136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5DA84-EFFA-4163-9F53-68F2A5CD7E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9186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85DA84-EFFA-4163-9F53-68F2A5CD7E6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5841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43C90-07AB-4E03-8DAB-92376B3E7429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428EB-BB21-4AE0-AD48-A458741A8B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823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43C90-07AB-4E03-8DAB-92376B3E7429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428EB-BB21-4AE0-AD48-A458741A8B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817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43C90-07AB-4E03-8DAB-92376B3E7429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428EB-BB21-4AE0-AD48-A458741A8B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3998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43C90-07AB-4E03-8DAB-92376B3E7429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428EB-BB21-4AE0-AD48-A458741A8B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991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43C90-07AB-4E03-8DAB-92376B3E7429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428EB-BB21-4AE0-AD48-A458741A8B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9702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43C90-07AB-4E03-8DAB-92376B3E7429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428EB-BB21-4AE0-AD48-A458741A8B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9784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43C90-07AB-4E03-8DAB-92376B3E7429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428EB-BB21-4AE0-AD48-A458741A8B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0898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43C90-07AB-4E03-8DAB-92376B3E7429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428EB-BB21-4AE0-AD48-A458741A8B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2339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43C90-07AB-4E03-8DAB-92376B3E7429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428EB-BB21-4AE0-AD48-A458741A8B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260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43C90-07AB-4E03-8DAB-92376B3E7429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428EB-BB21-4AE0-AD48-A458741A8B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4861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43C90-07AB-4E03-8DAB-92376B3E7429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428EB-BB21-4AE0-AD48-A458741A8B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032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343C90-07AB-4E03-8DAB-92376B3E7429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C428EB-BB21-4AE0-AD48-A458741A8B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3798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hyperlink" Target="https://ui.shadcn.com/" TargetMode="External"/><Relationship Id="rId18" Type="http://schemas.openxmlformats.org/officeDocument/2006/relationships/image" Target="../media/image8.png"/><Relationship Id="rId26" Type="http://schemas.openxmlformats.org/officeDocument/2006/relationships/hyperlink" Target="https://www.docker.com/" TargetMode="External"/><Relationship Id="rId3" Type="http://schemas.openxmlformats.org/officeDocument/2006/relationships/hyperlink" Target="https://nextjs.org/" TargetMode="External"/><Relationship Id="rId21" Type="http://schemas.openxmlformats.org/officeDocument/2006/relationships/image" Target="../media/image10.png"/><Relationship Id="rId7" Type="http://schemas.openxmlformats.org/officeDocument/2006/relationships/hyperlink" Target="https://nginx.org/" TargetMode="External"/><Relationship Id="rId12" Type="http://schemas.openxmlformats.org/officeDocument/2006/relationships/image" Target="../media/image5.png"/><Relationship Id="rId17" Type="http://schemas.openxmlformats.org/officeDocument/2006/relationships/hyperlink" Target="https://redis.io/" TargetMode="External"/><Relationship Id="rId25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.png"/><Relationship Id="rId20" Type="http://schemas.openxmlformats.org/officeDocument/2006/relationships/image" Target="../media/image9.png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hyperlink" Target="https://laravel.com/docs/13.x/" TargetMode="External"/><Relationship Id="rId24" Type="http://schemas.openxmlformats.org/officeDocument/2006/relationships/hyperlink" Target="https://github.com/Saidosik/Diplom2" TargetMode="External"/><Relationship Id="rId32" Type="http://schemas.openxmlformats.org/officeDocument/2006/relationships/image" Target="../media/image16.png"/><Relationship Id="rId5" Type="http://schemas.openxmlformats.org/officeDocument/2006/relationships/hyperlink" Target="https://www.jwt.io/" TargetMode="External"/><Relationship Id="rId15" Type="http://schemas.openxmlformats.org/officeDocument/2006/relationships/hyperlink" Target="https://laravel.com/docs/13.x/reverb" TargetMode="External"/><Relationship Id="rId23" Type="http://schemas.openxmlformats.org/officeDocument/2006/relationships/image" Target="../media/image11.png"/><Relationship Id="rId28" Type="http://schemas.openxmlformats.org/officeDocument/2006/relationships/hyperlink" Target="https://ubuntu.com/" TargetMode="External"/><Relationship Id="rId10" Type="http://schemas.openxmlformats.org/officeDocument/2006/relationships/image" Target="../media/image4.png"/><Relationship Id="rId19" Type="http://schemas.openxmlformats.org/officeDocument/2006/relationships/hyperlink" Target="https://www.typescriptlang.org/" TargetMode="External"/><Relationship Id="rId31" Type="http://schemas.openxmlformats.org/officeDocument/2006/relationships/image" Target="../media/image15.png"/><Relationship Id="rId4" Type="http://schemas.openxmlformats.org/officeDocument/2006/relationships/image" Target="../media/image1.jpg"/><Relationship Id="rId9" Type="http://schemas.openxmlformats.org/officeDocument/2006/relationships/hyperlink" Target="https://laravel.com/docs/13.x/ai-sdk" TargetMode="External"/><Relationship Id="rId14" Type="http://schemas.openxmlformats.org/officeDocument/2006/relationships/image" Target="../media/image6.png"/><Relationship Id="rId22" Type="http://schemas.openxmlformats.org/officeDocument/2006/relationships/hyperlink" Target="https://www.php.net/" TargetMode="External"/><Relationship Id="rId27" Type="http://schemas.openxmlformats.org/officeDocument/2006/relationships/image" Target="../media/image13.jpeg"/><Relationship Id="rId30" Type="http://schemas.openxmlformats.org/officeDocument/2006/relationships/hyperlink" Target="https://www.postgresql.org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said-diplom.ru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0478D6F-3EF7-4A2A-8FB5-708CDE4959BF}"/>
              </a:ext>
            </a:extLst>
          </p:cNvPr>
          <p:cNvSpPr/>
          <p:nvPr/>
        </p:nvSpPr>
        <p:spPr>
          <a:xfrm>
            <a:off x="1029102" y="4968055"/>
            <a:ext cx="10277231" cy="1000371"/>
          </a:xfrm>
          <a:prstGeom prst="rect">
            <a:avLst/>
          </a:prstGeom>
          <a:solidFill>
            <a:srgbClr val="0166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A2AFEF-7BA5-40D8-9C99-EE37B5262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628" y="1800768"/>
            <a:ext cx="11815482" cy="2290952"/>
          </a:xfrm>
        </p:spPr>
        <p:txBody>
          <a:bodyPr>
            <a:normAutofit fontScale="90000"/>
          </a:bodyPr>
          <a:lstStyle/>
          <a:p>
            <a:r>
              <a:rPr lang="ru-RU" sz="3600" b="1" dirty="0"/>
              <a:t>ЗАЩИТА ВЫПУСКНОЙ КВАЛИФИКАЦИОННОЙ РАБОТЫ</a:t>
            </a:r>
            <a:br>
              <a:rPr lang="ru-RU" sz="3600" b="1" dirty="0"/>
            </a:br>
            <a:r>
              <a:rPr lang="ru-RU" sz="3600" b="1" dirty="0"/>
              <a:t>ПО ТЕМЕ </a:t>
            </a:r>
            <a:br>
              <a:rPr lang="en-US" sz="3600" b="1" dirty="0">
                <a:latin typeface="Mulish" pitchFamily="2" charset="-52"/>
              </a:rPr>
            </a:br>
            <a:br>
              <a:rPr lang="ru-RU" sz="3600" b="1" dirty="0">
                <a:latin typeface="Mulish" pitchFamily="2" charset="-52"/>
              </a:rPr>
            </a:br>
            <a:r>
              <a:rPr lang="ru-RU" sz="3600" b="1" dirty="0">
                <a:solidFill>
                  <a:srgbClr val="016630"/>
                </a:solidFill>
                <a:latin typeface="Arial" panose="020B0604020202020204" pitchFamily="34" charset="0"/>
              </a:rPr>
              <a:t>«РАЗРАБОТКА ВЕБ-ПРИЛОЖЕНИЯ</a:t>
            </a:r>
            <a:br>
              <a:rPr lang="ru-RU" sz="3600" b="1" dirty="0">
                <a:solidFill>
                  <a:srgbClr val="016630"/>
                </a:solidFill>
                <a:latin typeface="Arial" panose="020B0604020202020204" pitchFamily="34" charset="0"/>
              </a:rPr>
            </a:br>
            <a:r>
              <a:rPr lang="ru-RU" sz="3600" b="1" dirty="0">
                <a:solidFill>
                  <a:srgbClr val="016630"/>
                </a:solidFill>
                <a:latin typeface="Arial" panose="020B0604020202020204" pitchFamily="34" charset="0"/>
              </a:rPr>
              <a:t>ДЛЯ ИНФОРМАЦИОННОГО СООБЩЕСТВА»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724CD0B-A214-4888-AB9A-7140DE5DEB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9102" y="4968055"/>
            <a:ext cx="10277230" cy="1000371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dirty="0">
                <a:solidFill>
                  <a:schemeClr val="bg1"/>
                </a:solidFill>
              </a:rPr>
              <a:t>Выполнил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ru-RU" dirty="0">
                <a:solidFill>
                  <a:schemeClr val="bg1"/>
                </a:solidFill>
              </a:rPr>
              <a:t>студент группы И-225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Габдрахманов Саид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Ильдарович</a:t>
            </a:r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7EBE8A-BBF4-4A00-88B4-0057B9FD4337}"/>
              </a:ext>
            </a:extLst>
          </p:cNvPr>
          <p:cNvSpPr txBox="1"/>
          <p:nvPr/>
        </p:nvSpPr>
        <p:spPr>
          <a:xfrm>
            <a:off x="2142565" y="65823"/>
            <a:ext cx="80503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+mj-lt"/>
              </a:rPr>
              <a:t>ГАПОУ «</a:t>
            </a:r>
            <a:r>
              <a:rPr lang="ru-RU" sz="2400" dirty="0" err="1">
                <a:latin typeface="+mj-lt"/>
              </a:rPr>
              <a:t>Набережночелнинский</a:t>
            </a:r>
            <a:r>
              <a:rPr lang="ru-RU" sz="2400" dirty="0">
                <a:latin typeface="+mj-lt"/>
              </a:rPr>
              <a:t> педагогический колледж»</a:t>
            </a:r>
          </a:p>
        </p:txBody>
      </p:sp>
    </p:spTree>
    <p:extLst>
      <p:ext uri="{BB962C8B-B14F-4D97-AF65-F5344CB8AC3E}">
        <p14:creationId xmlns:p14="http://schemas.microsoft.com/office/powerpoint/2010/main" val="3523255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7702278-9EA6-4164-A274-674BB91492F3}"/>
              </a:ext>
            </a:extLst>
          </p:cNvPr>
          <p:cNvSpPr/>
          <p:nvPr/>
        </p:nvSpPr>
        <p:spPr>
          <a:xfrm>
            <a:off x="0" y="0"/>
            <a:ext cx="12192000" cy="1155032"/>
          </a:xfrm>
          <a:prstGeom prst="rect">
            <a:avLst/>
          </a:prstGeom>
          <a:solidFill>
            <a:srgbClr val="0166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341994-285B-43A5-960E-BF5F6BA73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2517" y="0"/>
            <a:ext cx="6866965" cy="1325563"/>
          </a:xfrm>
        </p:spPr>
        <p:txBody>
          <a:bodyPr/>
          <a:lstStyle/>
          <a:p>
            <a:pPr algn="ctr"/>
            <a:r>
              <a:rPr lang="ru-RU" altLang="ru-RU" b="1" dirty="0">
                <a:solidFill>
                  <a:schemeClr val="bg1"/>
                </a:solidFill>
              </a:rPr>
              <a:t>А</a:t>
            </a:r>
            <a:r>
              <a:rPr kumimoji="0" lang="ru-RU" altLang="ru-RU" sz="4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ктуальность проекта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209974-37AB-4B9F-B994-19CE610E7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b="1" dirty="0">
                <a:solidFill>
                  <a:srgbClr val="016630"/>
                </a:solidFill>
              </a:rPr>
              <a:t>Проблема:</a:t>
            </a:r>
            <a:r>
              <a:rPr lang="ru-RU" sz="2400" dirty="0">
                <a:solidFill>
                  <a:srgbClr val="016630"/>
                </a:solidFill>
              </a:rPr>
              <a:t> </a:t>
            </a:r>
            <a:r>
              <a:rPr lang="ru-RU" sz="2400" dirty="0"/>
              <a:t>инструменты для обучения и обмена опытом в программировании часто разделены между разными сервисами.</a:t>
            </a:r>
          </a:p>
          <a:p>
            <a:r>
              <a:rPr lang="ru-RU" sz="2400" b="1" dirty="0">
                <a:solidFill>
                  <a:srgbClr val="016630"/>
                </a:solidFill>
              </a:rPr>
              <a:t>Потребность:</a:t>
            </a:r>
            <a:r>
              <a:rPr lang="ru-RU" sz="2400" dirty="0">
                <a:solidFill>
                  <a:srgbClr val="016630"/>
                </a:solidFill>
              </a:rPr>
              <a:t> </a:t>
            </a:r>
            <a:r>
              <a:rPr lang="ru-RU" sz="2400" dirty="0"/>
              <a:t>единая среда, где пользователь может:</a:t>
            </a:r>
          </a:p>
          <a:p>
            <a:pPr marL="0" indent="0">
              <a:buNone/>
            </a:pPr>
            <a:r>
              <a:rPr lang="ru-RU" sz="2400" dirty="0"/>
              <a:t>— изучать материалы;</a:t>
            </a:r>
            <a:br>
              <a:rPr lang="ru-RU" sz="2400" dirty="0"/>
            </a:br>
            <a:r>
              <a:rPr lang="ru-RU" sz="2400" dirty="0"/>
              <a:t>— задавать вопросы и получать ответы;</a:t>
            </a:r>
            <a:br>
              <a:rPr lang="ru-RU" sz="2400" dirty="0"/>
            </a:br>
            <a:r>
              <a:rPr lang="ru-RU" sz="2400" dirty="0"/>
              <a:t>— обсуждать решения;</a:t>
            </a:r>
            <a:br>
              <a:rPr lang="ru-RU" sz="2400" dirty="0"/>
            </a:br>
            <a:r>
              <a:rPr lang="ru-RU" sz="2400" dirty="0"/>
              <a:t>— запускать код;</a:t>
            </a:r>
            <a:br>
              <a:rPr lang="ru-RU" sz="2400" dirty="0"/>
            </a:br>
            <a:r>
              <a:rPr lang="ru-RU" sz="2400" dirty="0"/>
              <a:t>— получать интеллектуальную помощь.</a:t>
            </a:r>
          </a:p>
          <a:p>
            <a:r>
              <a:rPr lang="ru-RU" sz="2400" b="1" dirty="0">
                <a:solidFill>
                  <a:srgbClr val="016630"/>
                </a:solidFill>
              </a:rPr>
              <a:t>Идея проекта:</a:t>
            </a:r>
            <a:r>
              <a:rPr lang="ru-RU" sz="2400" dirty="0">
                <a:solidFill>
                  <a:srgbClr val="016630"/>
                </a:solidFill>
              </a:rPr>
              <a:t> </a:t>
            </a:r>
            <a:r>
              <a:rPr lang="ru-RU" sz="2400" dirty="0"/>
              <a:t>объединить обучение, коммуникацию и практику в одном веб-приложении.</a:t>
            </a:r>
          </a:p>
        </p:txBody>
      </p:sp>
    </p:spTree>
    <p:extLst>
      <p:ext uri="{BB962C8B-B14F-4D97-AF65-F5344CB8AC3E}">
        <p14:creationId xmlns:p14="http://schemas.microsoft.com/office/powerpoint/2010/main" val="3970070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FE2590C-E6EB-4373-9970-87A6F0A1AD43}"/>
              </a:ext>
            </a:extLst>
          </p:cNvPr>
          <p:cNvSpPr/>
          <p:nvPr/>
        </p:nvSpPr>
        <p:spPr>
          <a:xfrm>
            <a:off x="0" y="0"/>
            <a:ext cx="12192000" cy="1155032"/>
          </a:xfrm>
          <a:prstGeom prst="rect">
            <a:avLst/>
          </a:prstGeom>
          <a:solidFill>
            <a:srgbClr val="0166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961A58-F1F8-48B9-A877-AABC726766DA}"/>
              </a:ext>
            </a:extLst>
          </p:cNvPr>
          <p:cNvSpPr txBox="1"/>
          <p:nvPr/>
        </p:nvSpPr>
        <p:spPr>
          <a:xfrm>
            <a:off x="582704" y="2090172"/>
            <a:ext cx="470647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016630"/>
                </a:solidFill>
              </a:rPr>
              <a:t>Цель проекта</a:t>
            </a:r>
            <a:r>
              <a:rPr lang="en-US" sz="2400" b="1" dirty="0">
                <a:solidFill>
                  <a:srgbClr val="016630"/>
                </a:solidFill>
              </a:rPr>
              <a:t>: </a:t>
            </a:r>
            <a:endParaRPr lang="ru-RU" sz="2400" b="1" dirty="0">
              <a:solidFill>
                <a:srgbClr val="016630"/>
              </a:solidFill>
            </a:endParaRPr>
          </a:p>
          <a:p>
            <a:r>
              <a:rPr lang="ru-RU" sz="2400" dirty="0"/>
              <a:t>Разработать веб-приложение для информационного сообщества программистов, объединяющее обучение, общение, обмен опытом и практическую работу с кодом.</a:t>
            </a:r>
            <a:endParaRPr lang="en-US" sz="2400" dirty="0"/>
          </a:p>
        </p:txBody>
      </p:sp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DB9A9D1A-72E2-4F5B-9815-72783FBF0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2517" y="-85266"/>
            <a:ext cx="6866965" cy="1325563"/>
          </a:xfrm>
        </p:spPr>
        <p:txBody>
          <a:bodyPr/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Цель и Задачи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6A2FAF-F93F-40B6-9FEB-06A2FC5230B9}"/>
              </a:ext>
            </a:extLst>
          </p:cNvPr>
          <p:cNvSpPr txBox="1"/>
          <p:nvPr/>
        </p:nvSpPr>
        <p:spPr>
          <a:xfrm>
            <a:off x="5925670" y="1572418"/>
            <a:ext cx="60960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sz="2400" dirty="0"/>
          </a:p>
          <a:p>
            <a:r>
              <a:rPr lang="ru-RU" sz="2400" b="1" dirty="0">
                <a:solidFill>
                  <a:srgbClr val="016630"/>
                </a:solidFill>
              </a:rPr>
              <a:t>Задачи проекта</a:t>
            </a:r>
            <a:endParaRPr lang="ru-RU" sz="2400" dirty="0">
              <a:solidFill>
                <a:srgbClr val="01663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изучить предметную область и</a:t>
            </a:r>
            <a:r>
              <a:rPr lang="en-US" sz="2400" dirty="0"/>
              <a:t> </a:t>
            </a:r>
            <a:r>
              <a:rPr lang="ru-RU" sz="2400" dirty="0"/>
              <a:t>существующие аналоги;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определить требования к веб-приложению;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выбрать технологии разработки;</a:t>
            </a:r>
            <a:br>
              <a:rPr lang="ru-RU" sz="2400" dirty="0"/>
            </a:br>
            <a:r>
              <a:rPr lang="ru-RU" sz="2400" dirty="0"/>
              <a:t>спроектировать структуру сайта и базу данных;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реализовать клиентскую и серверную части;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провести тестирование и разместить проект на хостинге.</a:t>
            </a:r>
          </a:p>
        </p:txBody>
      </p:sp>
    </p:spTree>
    <p:extLst>
      <p:ext uri="{BB962C8B-B14F-4D97-AF65-F5344CB8AC3E}">
        <p14:creationId xmlns:p14="http://schemas.microsoft.com/office/powerpoint/2010/main" val="329974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23900569-53BE-4E14-ADFA-F76DDB3E14E4}"/>
              </a:ext>
            </a:extLst>
          </p:cNvPr>
          <p:cNvSpPr/>
          <p:nvPr/>
        </p:nvSpPr>
        <p:spPr>
          <a:xfrm>
            <a:off x="0" y="0"/>
            <a:ext cx="12192000" cy="1155032"/>
          </a:xfrm>
          <a:prstGeom prst="rect">
            <a:avLst/>
          </a:prstGeom>
          <a:solidFill>
            <a:srgbClr val="0166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70EF71-E913-4302-BFD7-C9846C38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382" y="-89465"/>
            <a:ext cx="11053772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Используемые технологии разработки</a:t>
            </a:r>
          </a:p>
        </p:txBody>
      </p:sp>
      <p:pic>
        <p:nvPicPr>
          <p:cNvPr id="9" name="Рисунок 8">
            <a:hlinkClick r:id="rId3"/>
            <a:extLst>
              <a:ext uri="{FF2B5EF4-FFF2-40B4-BE49-F238E27FC236}">
                <a16:creationId xmlns:a16="http://schemas.microsoft.com/office/drawing/2014/main" id="{AF2D27D1-9EF9-4F57-8624-FFC14DAC85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30" y="1859039"/>
            <a:ext cx="2265431" cy="1072784"/>
          </a:xfrm>
          <a:prstGeom prst="rect">
            <a:avLst/>
          </a:prstGeom>
        </p:spPr>
      </p:pic>
      <p:pic>
        <p:nvPicPr>
          <p:cNvPr id="15" name="Рисунок 14">
            <a:hlinkClick r:id="rId5"/>
            <a:extLst>
              <a:ext uri="{FF2B5EF4-FFF2-40B4-BE49-F238E27FC236}">
                <a16:creationId xmlns:a16="http://schemas.microsoft.com/office/drawing/2014/main" id="{810EEF80-E815-4E3C-B962-CA0EA47A58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8540" y="5671487"/>
            <a:ext cx="2156069" cy="1042311"/>
          </a:xfrm>
          <a:prstGeom prst="rect">
            <a:avLst/>
          </a:prstGeom>
        </p:spPr>
      </p:pic>
      <p:pic>
        <p:nvPicPr>
          <p:cNvPr id="17" name="Рисунок 16">
            <a:hlinkClick r:id="rId7"/>
            <a:extLst>
              <a:ext uri="{FF2B5EF4-FFF2-40B4-BE49-F238E27FC236}">
                <a16:creationId xmlns:a16="http://schemas.microsoft.com/office/drawing/2014/main" id="{4A0BDF39-E1DF-4BBD-A079-EE1DA41BB38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4378" y="1915926"/>
            <a:ext cx="1907173" cy="1226039"/>
          </a:xfrm>
          <a:prstGeom prst="rect">
            <a:avLst/>
          </a:prstGeom>
          <a:ln w="19050">
            <a:noFill/>
          </a:ln>
        </p:spPr>
      </p:pic>
      <p:pic>
        <p:nvPicPr>
          <p:cNvPr id="19" name="Рисунок 18">
            <a:hlinkClick r:id="rId9"/>
            <a:extLst>
              <a:ext uri="{FF2B5EF4-FFF2-40B4-BE49-F238E27FC236}">
                <a16:creationId xmlns:a16="http://schemas.microsoft.com/office/drawing/2014/main" id="{F5417B8E-6885-46F6-98E1-B795C8F6864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52193" y="4515194"/>
            <a:ext cx="2188459" cy="1066914"/>
          </a:xfrm>
          <a:prstGeom prst="rect">
            <a:avLst/>
          </a:prstGeom>
          <a:ln w="19050">
            <a:noFill/>
          </a:ln>
        </p:spPr>
      </p:pic>
      <p:pic>
        <p:nvPicPr>
          <p:cNvPr id="27" name="Рисунок 26">
            <a:hlinkClick r:id="rId11"/>
            <a:extLst>
              <a:ext uri="{FF2B5EF4-FFF2-40B4-BE49-F238E27FC236}">
                <a16:creationId xmlns:a16="http://schemas.microsoft.com/office/drawing/2014/main" id="{CE420443-B8FE-46DC-8690-70856CF0E329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29" y="4515194"/>
            <a:ext cx="1896736" cy="1066914"/>
          </a:xfrm>
          <a:prstGeom prst="rect">
            <a:avLst/>
          </a:prstGeom>
        </p:spPr>
      </p:pic>
      <p:pic>
        <p:nvPicPr>
          <p:cNvPr id="31" name="Рисунок 30">
            <a:hlinkClick r:id="rId13"/>
            <a:extLst>
              <a:ext uri="{FF2B5EF4-FFF2-40B4-BE49-F238E27FC236}">
                <a16:creationId xmlns:a16="http://schemas.microsoft.com/office/drawing/2014/main" id="{9F2447F5-DC6B-418E-8395-8182E5112A3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51248" y="1859039"/>
            <a:ext cx="2231481" cy="1072440"/>
          </a:xfrm>
          <a:prstGeom prst="rect">
            <a:avLst/>
          </a:prstGeom>
        </p:spPr>
      </p:pic>
      <p:pic>
        <p:nvPicPr>
          <p:cNvPr id="33" name="Рисунок 32">
            <a:hlinkClick r:id="rId15"/>
            <a:extLst>
              <a:ext uri="{FF2B5EF4-FFF2-40B4-BE49-F238E27FC236}">
                <a16:creationId xmlns:a16="http://schemas.microsoft.com/office/drawing/2014/main" id="{3C8B17CF-AAC9-4448-9D3C-9D0DF8DB612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73102" y="4542958"/>
            <a:ext cx="2114018" cy="1066914"/>
          </a:xfrm>
          <a:prstGeom prst="rect">
            <a:avLst/>
          </a:prstGeom>
        </p:spPr>
      </p:pic>
      <p:pic>
        <p:nvPicPr>
          <p:cNvPr id="35" name="Рисунок 34">
            <a:hlinkClick r:id="rId17"/>
            <a:extLst>
              <a:ext uri="{FF2B5EF4-FFF2-40B4-BE49-F238E27FC236}">
                <a16:creationId xmlns:a16="http://schemas.microsoft.com/office/drawing/2014/main" id="{F367697C-37D3-4185-9C77-7FBF79F62B2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10100" y="5460462"/>
            <a:ext cx="2552299" cy="896809"/>
          </a:xfrm>
          <a:prstGeom prst="rect">
            <a:avLst/>
          </a:prstGeom>
        </p:spPr>
      </p:pic>
      <p:pic>
        <p:nvPicPr>
          <p:cNvPr id="41" name="Рисунок 40">
            <a:hlinkClick r:id="rId19"/>
            <a:extLst>
              <a:ext uri="{FF2B5EF4-FFF2-40B4-BE49-F238E27FC236}">
                <a16:creationId xmlns:a16="http://schemas.microsoft.com/office/drawing/2014/main" id="{9B17A67E-96B9-4E0A-A153-9898F5D5D28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3459" y="3387498"/>
            <a:ext cx="2344059" cy="863899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507AB5A9-86D1-4346-8DE3-112CE0DD23A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951248" y="3419890"/>
            <a:ext cx="2682297" cy="799114"/>
          </a:xfrm>
          <a:prstGeom prst="rect">
            <a:avLst/>
          </a:prstGeom>
        </p:spPr>
      </p:pic>
      <p:pic>
        <p:nvPicPr>
          <p:cNvPr id="55" name="Рисунок 54">
            <a:hlinkClick r:id="rId22"/>
            <a:extLst>
              <a:ext uri="{FF2B5EF4-FFF2-40B4-BE49-F238E27FC236}">
                <a16:creationId xmlns:a16="http://schemas.microsoft.com/office/drawing/2014/main" id="{36C69491-38B3-4C5E-8327-346EAB0267DA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7561" y="5694160"/>
            <a:ext cx="1735715" cy="931599"/>
          </a:xfrm>
          <a:prstGeom prst="rect">
            <a:avLst/>
          </a:prstGeom>
        </p:spPr>
      </p:pic>
      <p:pic>
        <p:nvPicPr>
          <p:cNvPr id="4" name="Рисунок 3">
            <a:hlinkClick r:id="rId24"/>
            <a:extLst>
              <a:ext uri="{FF2B5EF4-FFF2-40B4-BE49-F238E27FC236}">
                <a16:creationId xmlns:a16="http://schemas.microsoft.com/office/drawing/2014/main" id="{B59384FD-8E08-4646-B878-76907CE29C05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100" y="2875764"/>
            <a:ext cx="2817674" cy="1042311"/>
          </a:xfrm>
          <a:prstGeom prst="rect">
            <a:avLst/>
          </a:prstGeom>
        </p:spPr>
      </p:pic>
      <p:pic>
        <p:nvPicPr>
          <p:cNvPr id="21" name="Рисунок 20">
            <a:hlinkClick r:id="rId26"/>
            <a:extLst>
              <a:ext uri="{FF2B5EF4-FFF2-40B4-BE49-F238E27FC236}">
                <a16:creationId xmlns:a16="http://schemas.microsoft.com/office/drawing/2014/main" id="{07DEF3BB-8E85-42BA-BAD4-54D16AC78817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2098" y="1915926"/>
            <a:ext cx="1907172" cy="1072784"/>
          </a:xfrm>
          <a:prstGeom prst="rect">
            <a:avLst/>
          </a:prstGeom>
        </p:spPr>
      </p:pic>
      <p:pic>
        <p:nvPicPr>
          <p:cNvPr id="53" name="Рисунок 52">
            <a:hlinkClick r:id="rId28"/>
            <a:extLst>
              <a:ext uri="{FF2B5EF4-FFF2-40B4-BE49-F238E27FC236}">
                <a16:creationId xmlns:a16="http://schemas.microsoft.com/office/drawing/2014/main" id="{BB832B54-46CA-42DF-BDF2-F1C8590A012A}"/>
              </a:ext>
            </a:extLst>
          </p:cNvPr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6029" y="1949546"/>
            <a:ext cx="2182838" cy="98227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A8F1F80-72E5-486D-A3B3-B992DBBD810A}"/>
              </a:ext>
            </a:extLst>
          </p:cNvPr>
          <p:cNvSpPr txBox="1"/>
          <p:nvPr/>
        </p:nvSpPr>
        <p:spPr>
          <a:xfrm>
            <a:off x="586382" y="5895606"/>
            <a:ext cx="13771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016630"/>
                </a:solidFill>
              </a:rPr>
              <a:t>Сервер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32524C-A509-4073-A302-027CDB27028A}"/>
              </a:ext>
            </a:extLst>
          </p:cNvPr>
          <p:cNvSpPr txBox="1"/>
          <p:nvPr/>
        </p:nvSpPr>
        <p:spPr>
          <a:xfrm>
            <a:off x="558920" y="2942777"/>
            <a:ext cx="18967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016630"/>
                </a:solidFill>
              </a:rPr>
              <a:t>Клиент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322E1E-79B6-4E3A-8FE7-E33A6BCB815A}"/>
              </a:ext>
            </a:extLst>
          </p:cNvPr>
          <p:cNvSpPr txBox="1"/>
          <p:nvPr/>
        </p:nvSpPr>
        <p:spPr>
          <a:xfrm>
            <a:off x="6585980" y="3038294"/>
            <a:ext cx="33419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016630"/>
                </a:solidFill>
              </a:rPr>
              <a:t>Инфраструктура и развёртывание</a:t>
            </a:r>
          </a:p>
        </p:txBody>
      </p:sp>
      <p:pic>
        <p:nvPicPr>
          <p:cNvPr id="26" name="Рисунок 25">
            <a:hlinkClick r:id="rId30"/>
            <a:extLst>
              <a:ext uri="{FF2B5EF4-FFF2-40B4-BE49-F238E27FC236}">
                <a16:creationId xmlns:a16="http://schemas.microsoft.com/office/drawing/2014/main" id="{8BE844AB-BA01-41CA-A8CD-B9604571172F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162073" y="4259308"/>
            <a:ext cx="2408534" cy="106319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36E6480-4C85-4ADB-B77A-935F40B2DFF7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693547" y="3886262"/>
            <a:ext cx="2344059" cy="57225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9F5D3707-0AC9-4AA3-A07C-8FB2C8E1F35B}"/>
              </a:ext>
            </a:extLst>
          </p:cNvPr>
          <p:cNvSpPr txBox="1"/>
          <p:nvPr/>
        </p:nvSpPr>
        <p:spPr>
          <a:xfrm>
            <a:off x="10315143" y="5460462"/>
            <a:ext cx="16846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016630"/>
                </a:solidFill>
              </a:rPr>
              <a:t>Данные и хранение</a:t>
            </a:r>
          </a:p>
          <a:p>
            <a:endParaRPr lang="ru-RU" sz="2400" dirty="0">
              <a:solidFill>
                <a:srgbClr val="01663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2624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63D180C-AF79-43FF-BAED-70202A8506D8}"/>
              </a:ext>
            </a:extLst>
          </p:cNvPr>
          <p:cNvSpPr/>
          <p:nvPr/>
        </p:nvSpPr>
        <p:spPr>
          <a:xfrm>
            <a:off x="0" y="0"/>
            <a:ext cx="12192000" cy="1155032"/>
          </a:xfrm>
          <a:prstGeom prst="rect">
            <a:avLst/>
          </a:prstGeom>
          <a:solidFill>
            <a:srgbClr val="0166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7125E5-89CA-4BDC-B30E-800750D8E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5266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Структура сайта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3001B01-E71A-4784-8CFF-8CA57CEF8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47" y="2509959"/>
            <a:ext cx="11098306" cy="2982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762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E63C4E3-8380-4963-BC8A-313AEC58A6F0}"/>
              </a:ext>
            </a:extLst>
          </p:cNvPr>
          <p:cNvSpPr/>
          <p:nvPr/>
        </p:nvSpPr>
        <p:spPr>
          <a:xfrm>
            <a:off x="0" y="0"/>
            <a:ext cx="12192000" cy="1155032"/>
          </a:xfrm>
          <a:prstGeom prst="rect">
            <a:avLst/>
          </a:prstGeom>
          <a:solidFill>
            <a:srgbClr val="0166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39510C-9DD5-4F9B-9711-46462D028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5266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Ссылка на сайт и главная страница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FDB888-78A1-4384-AD49-FC937257127D}"/>
              </a:ext>
            </a:extLst>
          </p:cNvPr>
          <p:cNvSpPr txBox="1"/>
          <p:nvPr/>
        </p:nvSpPr>
        <p:spPr>
          <a:xfrm>
            <a:off x="79215" y="3500160"/>
            <a:ext cx="6097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hlinkClick r:id="rId2"/>
              </a:rPr>
              <a:t>https://said-diplom.ru</a:t>
            </a:r>
            <a:r>
              <a:rPr lang="en-US" sz="2400" dirty="0">
                <a:hlinkClick r:id="rId2"/>
              </a:rPr>
              <a:t>/</a:t>
            </a:r>
            <a:r>
              <a:rPr lang="en-US" sz="2400" dirty="0"/>
              <a:t> </a:t>
            </a:r>
            <a:endParaRPr lang="ru-RU" sz="24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5133F27-749A-4653-A391-0E3D786DF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1561" y="1680357"/>
            <a:ext cx="8573579" cy="456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42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795759C-0DC6-4DF7-BEDC-5DF18BF4CF18}"/>
              </a:ext>
            </a:extLst>
          </p:cNvPr>
          <p:cNvSpPr/>
          <p:nvPr/>
        </p:nvSpPr>
        <p:spPr>
          <a:xfrm>
            <a:off x="0" y="0"/>
            <a:ext cx="12192000" cy="1155032"/>
          </a:xfrm>
          <a:prstGeom prst="rect">
            <a:avLst/>
          </a:prstGeom>
          <a:solidFill>
            <a:srgbClr val="0166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093E32-6940-4427-B3A4-00237F43D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0914" y="-85266"/>
            <a:ext cx="3570171" cy="1325563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Тестирование</a:t>
            </a:r>
            <a:r>
              <a:rPr lang="ru-RU" dirty="0"/>
              <a:t> </a:t>
            </a:r>
          </a:p>
        </p:txBody>
      </p:sp>
      <p:graphicFrame>
        <p:nvGraphicFramePr>
          <p:cNvPr id="5" name="Таблица 6">
            <a:extLst>
              <a:ext uri="{FF2B5EF4-FFF2-40B4-BE49-F238E27FC236}">
                <a16:creationId xmlns:a16="http://schemas.microsoft.com/office/drawing/2014/main" id="{0823F85B-492C-43B9-833B-CF3B26EF38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4203344"/>
              </p:ext>
            </p:extLst>
          </p:nvPr>
        </p:nvGraphicFramePr>
        <p:xfrm>
          <a:off x="1125312" y="1537319"/>
          <a:ext cx="10228488" cy="5053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852">
                  <a:extLst>
                    <a:ext uri="{9D8B030D-6E8A-4147-A177-3AD203B41FA5}">
                      <a16:colId xmlns:a16="http://schemas.microsoft.com/office/drawing/2014/main" val="3983803137"/>
                    </a:ext>
                  </a:extLst>
                </a:gridCol>
                <a:gridCol w="1850995">
                  <a:extLst>
                    <a:ext uri="{9D8B030D-6E8A-4147-A177-3AD203B41FA5}">
                      <a16:colId xmlns:a16="http://schemas.microsoft.com/office/drawing/2014/main" val="3055681894"/>
                    </a:ext>
                  </a:extLst>
                </a:gridCol>
                <a:gridCol w="3048182">
                  <a:extLst>
                    <a:ext uri="{9D8B030D-6E8A-4147-A177-3AD203B41FA5}">
                      <a16:colId xmlns:a16="http://schemas.microsoft.com/office/drawing/2014/main" val="4186440128"/>
                    </a:ext>
                  </a:extLst>
                </a:gridCol>
                <a:gridCol w="2378886">
                  <a:extLst>
                    <a:ext uri="{9D8B030D-6E8A-4147-A177-3AD203B41FA5}">
                      <a16:colId xmlns:a16="http://schemas.microsoft.com/office/drawing/2014/main" val="536397306"/>
                    </a:ext>
                  </a:extLst>
                </a:gridCol>
                <a:gridCol w="1187573">
                  <a:extLst>
                    <a:ext uri="{9D8B030D-6E8A-4147-A177-3AD203B41FA5}">
                      <a16:colId xmlns:a16="http://schemas.microsoft.com/office/drawing/2014/main" val="3948344955"/>
                    </a:ext>
                  </a:extLst>
                </a:gridCol>
              </a:tblGrid>
              <a:tr h="256654">
                <a:tc>
                  <a:txBody>
                    <a:bodyPr/>
                    <a:lstStyle/>
                    <a:p>
                      <a:r>
                        <a:rPr lang="ru-RU" sz="1600" dirty="0"/>
                        <a:t>Тест-кейс</a:t>
                      </a:r>
                    </a:p>
                  </a:txBody>
                  <a:tcPr marL="64163" marR="64163" marT="32082" marB="32082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Предусловие</a:t>
                      </a:r>
                    </a:p>
                  </a:txBody>
                  <a:tcPr marL="64163" marR="64163" marT="32082" marB="32082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Шаги</a:t>
                      </a:r>
                    </a:p>
                  </a:txBody>
                  <a:tcPr marL="64163" marR="64163" marT="32082" marB="32082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Результат</a:t>
                      </a:r>
                    </a:p>
                  </a:txBody>
                  <a:tcPr marL="64163" marR="64163" marT="32082" marB="32082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Статус</a:t>
                      </a:r>
                    </a:p>
                  </a:txBody>
                  <a:tcPr marL="64163" marR="64163" marT="32082" marB="32082" anchor="ctr"/>
                </a:tc>
                <a:extLst>
                  <a:ext uri="{0D108BD9-81ED-4DB2-BD59-A6C34878D82A}">
                    <a16:rowId xmlns:a16="http://schemas.microsoft.com/office/drawing/2014/main" val="616827068"/>
                  </a:ext>
                </a:extLst>
              </a:tr>
              <a:tr h="811923">
                <a:tc>
                  <a:txBody>
                    <a:bodyPr/>
                    <a:lstStyle/>
                    <a:p>
                      <a:r>
                        <a:rPr lang="ru-RU" sz="1600" dirty="0"/>
                        <a:t>Защита от </a:t>
                      </a:r>
                      <a:r>
                        <a:rPr lang="en-US" sz="1600" dirty="0"/>
                        <a:t>SQL-</a:t>
                      </a:r>
                      <a:r>
                        <a:rPr lang="ru-RU" sz="1600" dirty="0"/>
                        <a:t>инъекции</a:t>
                      </a:r>
                    </a:p>
                  </a:txBody>
                  <a:tcPr marL="64163" marR="64163" marT="32082" marB="32082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Форма входа доступна</a:t>
                      </a:r>
                    </a:p>
                  </a:txBody>
                  <a:tcPr marL="64163" marR="64163" marT="32082" marB="32082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В поле </a:t>
                      </a:r>
                      <a:r>
                        <a:rPr lang="ru-RU" sz="1600" dirty="0" err="1"/>
                        <a:t>email</a:t>
                      </a:r>
                      <a:r>
                        <a:rPr lang="ru-RU" sz="1600" dirty="0"/>
                        <a:t> ввести ' OR '1'='1, пароль — любые символы. Отправить форму.</a:t>
                      </a:r>
                    </a:p>
                  </a:txBody>
                  <a:tcPr marL="64163" marR="64163" marT="32082" marB="32082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Вход не выполнен, доступ к аккаунту не предоставлен.</a:t>
                      </a:r>
                    </a:p>
                  </a:txBody>
                  <a:tcPr marL="64163" marR="64163" marT="32082" marB="32082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Пройден</a:t>
                      </a:r>
                    </a:p>
                  </a:txBody>
                  <a:tcPr marL="64163" marR="64163" marT="32082" marB="32082" anchor="ctr"/>
                </a:tc>
                <a:extLst>
                  <a:ext uri="{0D108BD9-81ED-4DB2-BD59-A6C34878D82A}">
                    <a16:rowId xmlns:a16="http://schemas.microsoft.com/office/drawing/2014/main" val="2927471598"/>
                  </a:ext>
                </a:extLst>
              </a:tr>
              <a:tr h="747691">
                <a:tc>
                  <a:txBody>
                    <a:bodyPr/>
                    <a:lstStyle/>
                    <a:p>
                      <a:r>
                        <a:rPr lang="ru-RU" sz="1600"/>
                        <a:t>Доступ без авторизации</a:t>
                      </a:r>
                    </a:p>
                  </a:txBody>
                  <a:tcPr marL="64163" marR="64163" marT="32082" marB="32082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Пользователь не вошёл в систему</a:t>
                      </a:r>
                    </a:p>
                  </a:txBody>
                  <a:tcPr marL="64163" marR="64163" marT="32082" marB="32082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Открыть личный кабинет или отправить запрос к /</a:t>
                      </a:r>
                      <a:r>
                        <a:rPr lang="ru-RU" sz="1600" dirty="0" err="1"/>
                        <a:t>api</a:t>
                      </a:r>
                      <a:r>
                        <a:rPr lang="ru-RU" sz="1600" dirty="0"/>
                        <a:t>/</a:t>
                      </a:r>
                      <a:r>
                        <a:rPr lang="ru-RU" sz="1600" dirty="0" err="1"/>
                        <a:t>me</a:t>
                      </a:r>
                      <a:r>
                        <a:rPr lang="ru-RU" sz="1600" dirty="0"/>
                        <a:t>.</a:t>
                      </a:r>
                    </a:p>
                  </a:txBody>
                  <a:tcPr marL="64163" marR="64163" marT="32082" marB="32082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Система возвращает ошибку 401 или перенаправляет на вход.</a:t>
                      </a:r>
                    </a:p>
                  </a:txBody>
                  <a:tcPr marL="64163" marR="64163" marT="32082" marB="32082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Пройден</a:t>
                      </a:r>
                    </a:p>
                  </a:txBody>
                  <a:tcPr marL="64163" marR="64163" marT="32082" marB="32082" anchor="ctr"/>
                </a:tc>
                <a:extLst>
                  <a:ext uri="{0D108BD9-81ED-4DB2-BD59-A6C34878D82A}">
                    <a16:rowId xmlns:a16="http://schemas.microsoft.com/office/drawing/2014/main" val="2175821440"/>
                  </a:ext>
                </a:extLst>
              </a:tr>
              <a:tr h="818147">
                <a:tc>
                  <a:txBody>
                    <a:bodyPr/>
                    <a:lstStyle/>
                    <a:p>
                      <a:r>
                        <a:rPr lang="ru-RU" sz="1600"/>
                        <a:t>Проверка прав администратора</a:t>
                      </a:r>
                    </a:p>
                  </a:txBody>
                  <a:tcPr marL="64163" marR="64163" marT="32082" marB="32082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Пользователь вошёл как обычный пользователь</a:t>
                      </a:r>
                    </a:p>
                  </a:txBody>
                  <a:tcPr marL="64163" marR="64163" marT="32082" marB="32082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Попытаться открыть административную панель.</a:t>
                      </a:r>
                    </a:p>
                  </a:txBody>
                  <a:tcPr marL="64163" marR="64163" marT="32082" marB="32082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Доступ запрещён, управление системой недоступно.</a:t>
                      </a:r>
                    </a:p>
                  </a:txBody>
                  <a:tcPr marL="64163" marR="64163" marT="32082" marB="32082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Пройден</a:t>
                      </a:r>
                    </a:p>
                  </a:txBody>
                  <a:tcPr marL="64163" marR="64163" marT="32082" marB="32082" anchor="ctr"/>
                </a:tc>
                <a:extLst>
                  <a:ext uri="{0D108BD9-81ED-4DB2-BD59-A6C34878D82A}">
                    <a16:rowId xmlns:a16="http://schemas.microsoft.com/office/drawing/2014/main" val="1389421221"/>
                  </a:ext>
                </a:extLst>
              </a:tr>
              <a:tr h="1058779">
                <a:tc>
                  <a:txBody>
                    <a:bodyPr/>
                    <a:lstStyle/>
                    <a:p>
                      <a:r>
                        <a:rPr lang="ru-RU" sz="1600" dirty="0"/>
                        <a:t>Защита от </a:t>
                      </a:r>
                      <a:r>
                        <a:rPr lang="en-US" sz="1600" dirty="0"/>
                        <a:t>Clickjacking</a:t>
                      </a:r>
                    </a:p>
                  </a:txBody>
                  <a:tcPr marL="64163" marR="64163" marT="32082" marB="32082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Сайт доступен по ссылке</a:t>
                      </a:r>
                    </a:p>
                  </a:txBody>
                  <a:tcPr marL="64163" marR="64163" marT="32082" marB="32082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Проверить сайт через clickjacker.io или </a:t>
                      </a:r>
                      <a:r>
                        <a:rPr lang="ru-RU" sz="1600" dirty="0" err="1"/>
                        <a:t>iframe</a:t>
                      </a:r>
                      <a:r>
                        <a:rPr lang="ru-RU" sz="1600" dirty="0"/>
                        <a:t>-страницу.</a:t>
                      </a:r>
                    </a:p>
                  </a:txBody>
                  <a:tcPr marL="64163" marR="64163" marT="32082" marB="32082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Страница не встраивается во внешний фрейм.</a:t>
                      </a:r>
                    </a:p>
                  </a:txBody>
                  <a:tcPr marL="64163" marR="64163" marT="32082" marB="32082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Пройден</a:t>
                      </a:r>
                    </a:p>
                  </a:txBody>
                  <a:tcPr marL="64163" marR="64163" marT="32082" marB="32082" anchor="ctr"/>
                </a:tc>
                <a:extLst>
                  <a:ext uri="{0D108BD9-81ED-4DB2-BD59-A6C34878D82A}">
                    <a16:rowId xmlns:a16="http://schemas.microsoft.com/office/drawing/2014/main" val="1643400435"/>
                  </a:ext>
                </a:extLst>
              </a:tr>
              <a:tr h="855929">
                <a:tc>
                  <a:txBody>
                    <a:bodyPr/>
                    <a:lstStyle/>
                    <a:p>
                      <a:r>
                        <a:rPr lang="ru-RU" sz="1600" dirty="0"/>
                        <a:t>Проверка песочницы кода</a:t>
                      </a:r>
                    </a:p>
                  </a:txBody>
                  <a:tcPr marL="64163" marR="64163" marT="32082" marB="32082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Пользователь авторизован</a:t>
                      </a:r>
                    </a:p>
                  </a:txBody>
                  <a:tcPr marL="64163" marR="64163" marT="32082" marB="32082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Запустить код с ошибкой или бесконечным циклом.</a:t>
                      </a:r>
                    </a:p>
                  </a:txBody>
                  <a:tcPr marL="64163" marR="64163" marT="32082" marB="32082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Ошибка или превышение лимита отображается, сайт продолжает работать.</a:t>
                      </a:r>
                    </a:p>
                  </a:txBody>
                  <a:tcPr marL="64163" marR="64163" marT="32082" marB="32082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Пройден</a:t>
                      </a:r>
                    </a:p>
                  </a:txBody>
                  <a:tcPr marL="64163" marR="64163" marT="32082" marB="32082" anchor="ctr"/>
                </a:tc>
                <a:extLst>
                  <a:ext uri="{0D108BD9-81ED-4DB2-BD59-A6C34878D82A}">
                    <a16:rowId xmlns:a16="http://schemas.microsoft.com/office/drawing/2014/main" val="157757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1503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795759C-0DC6-4DF7-BEDC-5DF18BF4CF18}"/>
              </a:ext>
            </a:extLst>
          </p:cNvPr>
          <p:cNvSpPr/>
          <p:nvPr/>
        </p:nvSpPr>
        <p:spPr>
          <a:xfrm>
            <a:off x="0" y="0"/>
            <a:ext cx="12192000" cy="1155032"/>
          </a:xfrm>
          <a:prstGeom prst="rect">
            <a:avLst/>
          </a:prstGeom>
          <a:solidFill>
            <a:srgbClr val="0166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093E32-6940-4427-B3A4-00237F43D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0914" y="-1"/>
            <a:ext cx="3570171" cy="1155033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Тестирование</a:t>
            </a:r>
            <a:r>
              <a:rPr lang="ru-RU" dirty="0"/>
              <a:t>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CE36FE-10DD-4121-B000-5211F7515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221" y="1423177"/>
            <a:ext cx="6803557" cy="518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264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6B54DD1-4ECF-4FE4-B0C7-358C1063F8BC}"/>
              </a:ext>
            </a:extLst>
          </p:cNvPr>
          <p:cNvSpPr/>
          <p:nvPr/>
        </p:nvSpPr>
        <p:spPr>
          <a:xfrm>
            <a:off x="0" y="0"/>
            <a:ext cx="12192000" cy="1155032"/>
          </a:xfrm>
          <a:prstGeom prst="rect">
            <a:avLst/>
          </a:prstGeom>
          <a:solidFill>
            <a:srgbClr val="0166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E187888-18DF-411A-9B05-87F503643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5266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Заключение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97BB4675-DCEE-48E8-97BF-8C74EE10D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4537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Поставленная цель выпускной квалификационной работы была достигнута: разработано веб-приложение «Вектор» для сообщества программистов, объединяющее публикации, вопросы и ответы, чаты, песочницу кода, AI-помощника и административное управление. Проект построен на актуальных технологиях и имеет перспективы дальнейшего развития за счёт глубокой интеграции искусственного интеллекта.</a:t>
            </a:r>
            <a:endParaRPr lang="ru-RU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19868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935</TotalTime>
  <Words>386</Words>
  <Application>Microsoft Office PowerPoint</Application>
  <PresentationFormat>Широкоэкранный</PresentationFormat>
  <Paragraphs>61</Paragraphs>
  <Slides>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Mulish</vt:lpstr>
      <vt:lpstr>Office Theme</vt:lpstr>
      <vt:lpstr>ЗАЩИТА ВЫПУСКНОЙ КВАЛИФИКАЦИОННОЙ РАБОТЫ ПО ТЕМЕ   «РАЗРАБОТКА ВЕБ-ПРИЛОЖЕНИЯ ДЛЯ ИНФОРМАЦИОННОГО СООБЩЕСТВА»</vt:lpstr>
      <vt:lpstr>Актуальность проекта</vt:lpstr>
      <vt:lpstr>Цель и Задачи</vt:lpstr>
      <vt:lpstr>Используемые технологии разработки</vt:lpstr>
      <vt:lpstr>Структура сайта</vt:lpstr>
      <vt:lpstr>Ссылка на сайт и главная страница</vt:lpstr>
      <vt:lpstr>Тестирование </vt:lpstr>
      <vt:lpstr>Тестирование 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ВЫПУСКНАЯ КВАЛИФИКАЦИОННАЯ РАБОТА на тему: РАЗРАБОТКА ВЕБ-ПРИЛОЖЕНИЯ ДЛЯ ИНФОРМАЦИОННОГО СООБЩЕСТВА</dc:title>
  <dc:creator>Саид</dc:creator>
  <cp:lastModifiedBy>Саид</cp:lastModifiedBy>
  <cp:revision>68</cp:revision>
  <dcterms:created xsi:type="dcterms:W3CDTF">2026-06-15T03:30:08Z</dcterms:created>
  <dcterms:modified xsi:type="dcterms:W3CDTF">2026-06-16T13:19:12Z</dcterms:modified>
</cp:coreProperties>
</file>